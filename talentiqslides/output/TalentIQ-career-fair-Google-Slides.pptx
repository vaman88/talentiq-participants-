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1F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FEDB00"/>
          </a:solidFill>
          <a:ln w="12700">
            <a:solidFill>
              <a:srgbClr val="FEDB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411480"/>
            <a:ext cx="932688" cy="283464"/>
          </a:xfrm>
          <a:prstGeom prst="rect">
            <a:avLst/>
          </a:prstGeom>
          <a:solidFill>
            <a:srgbClr val="FEDB00"/>
          </a:solidFill>
          <a:ln w="12700">
            <a:solidFill>
              <a:srgbClr val="FEDB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94944" y="438912"/>
            <a:ext cx="8412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211F2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J.B. HUNT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700784" y="438912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TalentIQ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799064" y="448056"/>
            <a:ext cx="722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AAAAA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 / 08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58368" y="1252728"/>
            <a:ext cx="182880" cy="50292"/>
          </a:xfrm>
          <a:prstGeom prst="rect">
            <a:avLst/>
          </a:prstGeom>
          <a:solidFill>
            <a:srgbClr val="FEDB00"/>
          </a:solidFill>
          <a:ln w="12700">
            <a:solidFill>
              <a:srgbClr val="FEDB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1143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FEDB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58368" y="1536192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Long lines.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658368" y="2185416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EDB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Lost context.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658368" y="2990088"/>
            <a:ext cx="4983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D2D2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 busy career fairs, candidates wait to check in while recruiters try to remember dozens of short conversations.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58368" y="3822192"/>
            <a:ext cx="5010912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3968496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EDB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69848" y="3968496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Lines slow the first hello.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69848" y="4233672"/>
            <a:ext cx="4526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D2D2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check-in creates long waits at the booth.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58368" y="4590288"/>
            <a:ext cx="5010912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4681728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EDB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69848" y="4681728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Names blur together.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69848" y="4946904"/>
            <a:ext cx="4526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D2D2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Interviewers may forget who they spoke with.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58368" y="5303520"/>
            <a:ext cx="5010912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" y="5394960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EDB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69848" y="5394960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Details disappear.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69848" y="5660136"/>
            <a:ext cx="4526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D2D2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There is no clear record of what was discussed or what comes next.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58368" y="6016752"/>
            <a:ext cx="5010912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46520" y="1554480"/>
            <a:ext cx="4983480" cy="4407408"/>
          </a:xfrm>
          <a:prstGeom prst="rect">
            <a:avLst/>
          </a:prstGeom>
          <a:solidFill>
            <a:srgbClr val="292728"/>
          </a:solidFill>
          <a:ln w="12700">
            <a:solidFill>
              <a:srgbClr val="4F4E4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66560" y="184708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C6C5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 CHECK-IN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013448" y="2578608"/>
            <a:ext cx="210312" cy="21031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958584" y="2816352"/>
            <a:ext cx="3200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498080" y="2578608"/>
            <a:ext cx="210312" cy="210312"/>
          </a:xfrm>
          <a:prstGeom prst="ellipse">
            <a:avLst/>
          </a:prstGeom>
          <a:solidFill>
            <a:srgbClr val="FFFFFF">
              <a:alpha val="83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443216" y="2816352"/>
            <a:ext cx="3200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982712" y="2578608"/>
            <a:ext cx="210312" cy="210312"/>
          </a:xfrm>
          <a:prstGeom prst="ellipse">
            <a:avLst/>
          </a:prstGeom>
          <a:solidFill>
            <a:srgbClr val="FFFFFF">
              <a:alpha val="66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927848" y="2816352"/>
            <a:ext cx="3200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467344" y="2578608"/>
            <a:ext cx="210312" cy="210312"/>
          </a:xfrm>
          <a:prstGeom prst="ellipse">
            <a:avLst/>
          </a:prstGeom>
          <a:solidFill>
            <a:srgbClr val="FFFFFF">
              <a:alpha val="49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412480" y="2816352"/>
            <a:ext cx="3200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951976" y="2578608"/>
            <a:ext cx="210312" cy="210312"/>
          </a:xfrm>
          <a:prstGeom prst="ellipse">
            <a:avLst/>
          </a:prstGeom>
          <a:solidFill>
            <a:srgbClr val="FFFFFF">
              <a:alpha val="3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897112" y="2816352"/>
            <a:ext cx="3200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262872" y="3099816"/>
            <a:ext cx="914400" cy="0"/>
          </a:xfrm>
          <a:prstGeom prst="line">
            <a:avLst/>
          </a:prstGeom>
          <a:noFill/>
          <a:ln w="25400">
            <a:solidFill>
              <a:srgbClr val="FEDB0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213848" y="2679192"/>
            <a:ext cx="841248" cy="548640"/>
          </a:xfrm>
          <a:prstGeom prst="rect">
            <a:avLst/>
          </a:prstGeom>
          <a:solidFill>
            <a:srgbClr val="211F20"/>
          </a:solidFill>
          <a:ln w="25400">
            <a:solidFill>
              <a:srgbClr val="FEDB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305288" y="2788920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EDB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CHECK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EDB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775704" y="3575304"/>
            <a:ext cx="45720" cy="411480"/>
          </a:xfrm>
          <a:prstGeom prst="rect">
            <a:avLst/>
          </a:prstGeom>
          <a:solidFill>
            <a:srgbClr val="FEDB00"/>
          </a:solidFill>
          <a:ln w="12700">
            <a:solidFill>
              <a:srgbClr val="FEDB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949440" y="3621024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slow start creates a longer wait.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6775704" y="4416552"/>
            <a:ext cx="429768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775704" y="4617720"/>
            <a:ext cx="3383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10" kern="0" dirty="0">
                <a:solidFill>
                  <a:srgbClr val="C6C5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AFTER THE CONVERSATION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775704" y="5074920"/>
            <a:ext cx="1197864" cy="420624"/>
          </a:xfrm>
          <a:prstGeom prst="rect">
            <a:avLst/>
          </a:prstGeom>
          <a:solidFill>
            <a:srgbClr val="292728"/>
          </a:solidFill>
          <a:ln w="8890">
            <a:solidFill>
              <a:srgbClr val="89888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858000" y="5193792"/>
            <a:ext cx="1033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 was it?</a:t>
            </a:r>
            <a:endParaRPr lang="en-US" sz="940" dirty="0"/>
          </a:p>
        </p:txBody>
      </p:sp>
      <p:sp>
        <p:nvSpPr>
          <p:cNvPr id="46" name="Shape 44"/>
          <p:cNvSpPr/>
          <p:nvPr/>
        </p:nvSpPr>
        <p:spPr>
          <a:xfrm>
            <a:off x="8083296" y="5074920"/>
            <a:ext cx="1618488" cy="420624"/>
          </a:xfrm>
          <a:prstGeom prst="rect">
            <a:avLst/>
          </a:prstGeom>
          <a:solidFill>
            <a:srgbClr val="292728"/>
          </a:solidFill>
          <a:ln w="8890">
            <a:solidFill>
              <a:srgbClr val="89888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165592" y="5193792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did we discuss?</a:t>
            </a:r>
            <a:endParaRPr lang="en-US" sz="940" dirty="0"/>
          </a:p>
        </p:txBody>
      </p:sp>
      <p:sp>
        <p:nvSpPr>
          <p:cNvPr id="48" name="Shape 46"/>
          <p:cNvSpPr/>
          <p:nvPr/>
        </p:nvSpPr>
        <p:spPr>
          <a:xfrm>
            <a:off x="9811512" y="5074920"/>
            <a:ext cx="1143000" cy="420624"/>
          </a:xfrm>
          <a:prstGeom prst="rect">
            <a:avLst/>
          </a:prstGeom>
          <a:solidFill>
            <a:srgbClr val="292728"/>
          </a:solidFill>
          <a:ln w="8890">
            <a:solidFill>
              <a:srgbClr val="89888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893808" y="5193792"/>
            <a:ext cx="9784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next?</a:t>
            </a:r>
            <a:endParaRPr lang="en-US" sz="94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FEDB00"/>
          </a:solidFill>
          <a:ln w="12700">
            <a:solidFill>
              <a:srgbClr val="FEDB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411480"/>
            <a:ext cx="932688" cy="283464"/>
          </a:xfrm>
          <a:prstGeom prst="rect">
            <a:avLst/>
          </a:prstGeom>
          <a:solidFill>
            <a:srgbClr val="FEDB00"/>
          </a:solidFill>
          <a:ln w="12700">
            <a:solidFill>
              <a:srgbClr val="FEDB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94944" y="438912"/>
            <a:ext cx="8412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211F2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J.B. HUNT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700784" y="438912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11F2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TalentIQ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799064" y="448056"/>
            <a:ext cx="722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6868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 / 08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58368" y="1225296"/>
            <a:ext cx="182880" cy="50292"/>
          </a:xfrm>
          <a:prstGeom prst="rect">
            <a:avLst/>
          </a:prstGeom>
          <a:solidFill>
            <a:srgbClr val="FEDB00"/>
          </a:solidFill>
          <a:ln w="12700">
            <a:solidFill>
              <a:srgbClr val="FEDB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11155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211F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SOLUTION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58368" y="1508760"/>
            <a:ext cx="886968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211F2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One record from check-in</a:t>
            </a:r>
            <a:endParaRPr lang="en-US" sz="4200" dirty="0"/>
          </a:p>
          <a:p>
            <a:pPr algn="l" indent="0" marL="0">
              <a:buNone/>
            </a:pPr>
            <a:r>
              <a:rPr lang="en-US" sz="4200" b="1" dirty="0">
                <a:solidFill>
                  <a:srgbClr val="211F2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 follow-up.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658368" y="267004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TalentIQ connects candidate details, resumes, and recruiter context so a conversation does not end when the fair does.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58368" y="3657600"/>
            <a:ext cx="2267712" cy="2048256"/>
          </a:xfrm>
          <a:prstGeom prst="rect">
            <a:avLst/>
          </a:prstGeom>
          <a:solidFill>
            <a:srgbClr val="211F20"/>
          </a:solidFill>
          <a:ln w="12700">
            <a:solidFill>
              <a:srgbClr val="211F2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" y="3657600"/>
            <a:ext cx="2267712" cy="64008"/>
          </a:xfrm>
          <a:prstGeom prst="rect">
            <a:avLst/>
          </a:prstGeom>
          <a:solidFill>
            <a:srgbClr val="FEDB00"/>
          </a:solidFill>
          <a:ln w="12700">
            <a:solidFill>
              <a:srgbClr val="FEDB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9536" y="3922776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EDB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59536" y="4389120"/>
            <a:ext cx="185623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Quick</a:t>
            </a:r>
            <a:endParaRPr lang="en-US" sz="2100" dirty="0"/>
          </a:p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check-in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859536" y="506577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D2D2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Candidate enters details and uploads a resume.</a:t>
            </a:r>
            <a:endParaRPr lang="en-US" sz="1020" dirty="0"/>
          </a:p>
        </p:txBody>
      </p:sp>
      <p:sp>
        <p:nvSpPr>
          <p:cNvPr id="16" name="Text 14"/>
          <p:cNvSpPr/>
          <p:nvPr/>
        </p:nvSpPr>
        <p:spPr>
          <a:xfrm>
            <a:off x="3026664" y="4489704"/>
            <a:ext cx="356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dirty="0">
                <a:solidFill>
                  <a:srgbClr val="211F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3502152" y="3657600"/>
            <a:ext cx="2267712" cy="2048256"/>
          </a:xfrm>
          <a:prstGeom prst="rect">
            <a:avLst/>
          </a:prstGeom>
          <a:solidFill>
            <a:srgbClr val="F5F5F6"/>
          </a:solidFill>
          <a:ln w="12700">
            <a:solidFill>
              <a:srgbClr val="F5F5F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502152" y="3657600"/>
            <a:ext cx="2267712" cy="64008"/>
          </a:xfrm>
          <a:prstGeom prst="rect">
            <a:avLst/>
          </a:prstGeom>
          <a:solidFill>
            <a:srgbClr val="211F20"/>
          </a:solidFill>
          <a:ln w="12700">
            <a:solidFill>
              <a:srgbClr val="211F2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03320" y="3922776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7777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703320" y="4389120"/>
            <a:ext cx="185623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11F2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One</a:t>
            </a:r>
            <a:endParaRPr lang="en-US" sz="2100" dirty="0"/>
          </a:p>
          <a:p>
            <a:pPr algn="l" indent="0" marL="0">
              <a:buNone/>
            </a:pPr>
            <a:r>
              <a:rPr lang="en-US" sz="2100" b="1" dirty="0">
                <a:solidFill>
                  <a:srgbClr val="211F2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source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3703320" y="506577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Supabase stores the response and resume together.</a:t>
            </a:r>
            <a:endParaRPr lang="en-US" sz="1020" dirty="0"/>
          </a:p>
        </p:txBody>
      </p:sp>
      <p:sp>
        <p:nvSpPr>
          <p:cNvPr id="22" name="Text 20"/>
          <p:cNvSpPr/>
          <p:nvPr/>
        </p:nvSpPr>
        <p:spPr>
          <a:xfrm>
            <a:off x="5870448" y="4489704"/>
            <a:ext cx="356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dirty="0">
                <a:solidFill>
                  <a:srgbClr val="211F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600" dirty="0"/>
          </a:p>
        </p:txBody>
      </p:sp>
      <p:sp>
        <p:nvSpPr>
          <p:cNvPr id="23" name="Shape 21"/>
          <p:cNvSpPr/>
          <p:nvPr/>
        </p:nvSpPr>
        <p:spPr>
          <a:xfrm>
            <a:off x="6345936" y="3657600"/>
            <a:ext cx="2267712" cy="2048256"/>
          </a:xfrm>
          <a:prstGeom prst="rect">
            <a:avLst/>
          </a:prstGeom>
          <a:solidFill>
            <a:srgbClr val="F5F5F6"/>
          </a:solidFill>
          <a:ln w="12700">
            <a:solidFill>
              <a:srgbClr val="F5F5F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45936" y="3657600"/>
            <a:ext cx="2267712" cy="64008"/>
          </a:xfrm>
          <a:prstGeom prst="rect">
            <a:avLst/>
          </a:prstGeom>
          <a:solidFill>
            <a:srgbClr val="9B9B9E"/>
          </a:solidFill>
          <a:ln w="12700">
            <a:solidFill>
              <a:srgbClr val="9B9B9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47104" y="3922776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7777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547104" y="4389120"/>
            <a:ext cx="185623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11F2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Recruiter</a:t>
            </a:r>
            <a:endParaRPr lang="en-US" sz="2100" dirty="0"/>
          </a:p>
          <a:p>
            <a:pPr algn="l" indent="0" marL="0">
              <a:buNone/>
            </a:pPr>
            <a:r>
              <a:rPr lang="en-US" sz="2100" b="1" dirty="0">
                <a:solidFill>
                  <a:srgbClr val="211F2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log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6547104" y="506577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Notes and follow-up decisions stay with the profile.</a:t>
            </a:r>
            <a:endParaRPr lang="en-US" sz="1020" dirty="0"/>
          </a:p>
        </p:txBody>
      </p:sp>
      <p:sp>
        <p:nvSpPr>
          <p:cNvPr id="28" name="Text 26"/>
          <p:cNvSpPr/>
          <p:nvPr/>
        </p:nvSpPr>
        <p:spPr>
          <a:xfrm>
            <a:off x="8714232" y="4489704"/>
            <a:ext cx="356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dirty="0">
                <a:solidFill>
                  <a:srgbClr val="211F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600" dirty="0"/>
          </a:p>
        </p:txBody>
      </p:sp>
      <p:sp>
        <p:nvSpPr>
          <p:cNvPr id="29" name="Shape 27"/>
          <p:cNvSpPr/>
          <p:nvPr/>
        </p:nvSpPr>
        <p:spPr>
          <a:xfrm>
            <a:off x="9189720" y="3657600"/>
            <a:ext cx="2267712" cy="2048256"/>
          </a:xfrm>
          <a:prstGeom prst="rect">
            <a:avLst/>
          </a:prstGeom>
          <a:solidFill>
            <a:srgbClr val="F5F5F6"/>
          </a:solidFill>
          <a:ln w="12700">
            <a:solidFill>
              <a:srgbClr val="F5F5F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189720" y="3657600"/>
            <a:ext cx="2267712" cy="64008"/>
          </a:xfrm>
          <a:prstGeom prst="rect">
            <a:avLst/>
          </a:prstGeom>
          <a:solidFill>
            <a:srgbClr val="9B9B9E"/>
          </a:solidFill>
          <a:ln w="12700">
            <a:solidFill>
              <a:srgbClr val="9B9B9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390888" y="3922776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7777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390888" y="4389120"/>
            <a:ext cx="185623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11F2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Voice</a:t>
            </a:r>
            <a:endParaRPr lang="en-US" sz="2100" dirty="0"/>
          </a:p>
          <a:p>
            <a:pPr algn="l" indent="0" marL="0">
              <a:buNone/>
            </a:pPr>
            <a:r>
              <a:rPr lang="en-US" sz="2100" b="1" dirty="0">
                <a:solidFill>
                  <a:srgbClr val="211F2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filtering</a:t>
            </a:r>
            <a:endParaRPr lang="en-US" sz="2100" dirty="0"/>
          </a:p>
        </p:txBody>
      </p:sp>
      <p:sp>
        <p:nvSpPr>
          <p:cNvPr id="33" name="Text 31"/>
          <p:cNvSpPr/>
          <p:nvPr/>
        </p:nvSpPr>
        <p:spPr>
          <a:xfrm>
            <a:off x="9390888" y="506577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Find people by the topics discussed.</a:t>
            </a:r>
            <a:endParaRPr lang="en-US" sz="1020" dirty="0"/>
          </a:p>
        </p:txBody>
      </p:sp>
      <p:sp>
        <p:nvSpPr>
          <p:cNvPr id="34" name="Shape 32"/>
          <p:cNvSpPr/>
          <p:nvPr/>
        </p:nvSpPr>
        <p:spPr>
          <a:xfrm>
            <a:off x="658368" y="5998464"/>
            <a:ext cx="10881360" cy="0"/>
          </a:xfrm>
          <a:prstGeom prst="line">
            <a:avLst/>
          </a:prstGeom>
          <a:noFill/>
          <a:ln w="12700">
            <a:solidFill>
              <a:srgbClr val="D9DAD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58368" y="6208776"/>
            <a:ext cx="1005840" cy="265176"/>
          </a:xfrm>
          <a:prstGeom prst="rect">
            <a:avLst/>
          </a:prstGeom>
          <a:solidFill>
            <a:srgbClr val="FEDB00"/>
          </a:solidFill>
          <a:ln w="12700">
            <a:solidFill>
              <a:srgbClr val="FEDB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13232" y="6254496"/>
            <a:ext cx="8961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11F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TODAY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1764792" y="6236208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11F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Check-in + Supabase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842248" y="6236208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11F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 PHASE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9857232" y="6236208"/>
            <a:ext cx="1627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211F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Conversation logs + voice filtering</a:t>
            </a:r>
            <a:endParaRPr lang="en-US" sz="83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FEDB00"/>
          </a:solidFill>
          <a:ln w="12700">
            <a:solidFill>
              <a:srgbClr val="FEDB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411480"/>
            <a:ext cx="932688" cy="283464"/>
          </a:xfrm>
          <a:prstGeom prst="rect">
            <a:avLst/>
          </a:prstGeom>
          <a:solidFill>
            <a:srgbClr val="FEDB00"/>
          </a:solidFill>
          <a:ln w="12700">
            <a:solidFill>
              <a:srgbClr val="FEDB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94944" y="438912"/>
            <a:ext cx="8412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211F2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J.B. HUNT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700784" y="438912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11F2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TalentIQ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799064" y="448056"/>
            <a:ext cx="722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6868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 / 08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58368" y="1115568"/>
            <a:ext cx="182880" cy="50292"/>
          </a:xfrm>
          <a:prstGeom prst="rect">
            <a:avLst/>
          </a:prstGeom>
          <a:solidFill>
            <a:srgbClr val="FEDB00"/>
          </a:solidFill>
          <a:ln w="12700">
            <a:solidFill>
              <a:srgbClr val="FEDB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1005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211F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CHECK-IN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58368" y="1371600"/>
            <a:ext cx="9875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211F2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Check in once. Save it right.</a:t>
            </a:r>
            <a:endParaRPr lang="en-US" sz="3900" dirty="0"/>
          </a:p>
        </p:txBody>
      </p:sp>
      <p:sp>
        <p:nvSpPr>
          <p:cNvPr id="10" name="Text 8"/>
          <p:cNvSpPr/>
          <p:nvPr/>
        </p:nvSpPr>
        <p:spPr>
          <a:xfrm>
            <a:off x="658368" y="2002536"/>
            <a:ext cx="96926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candidate screen captures the essentials; the server stores a validated response and resume in Supabase.</a:t>
            </a:r>
            <a:endParaRPr lang="en-US" sz="1400" dirty="0"/>
          </a:p>
        </p:txBody>
      </p:sp>
      <p:pic>
        <p:nvPicPr>
          <p:cNvPr id="11" name="Image 0" descr="C:\Users\reach\Documents\TalentIQ\career-fair-checkin\talentiqslides\assets\checkin-screen-for-slid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2670048"/>
            <a:ext cx="5623560" cy="370332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6720840" y="2670048"/>
            <a:ext cx="374904" cy="64008"/>
          </a:xfrm>
          <a:prstGeom prst="rect">
            <a:avLst/>
          </a:prstGeom>
          <a:solidFill>
            <a:srgbClr val="FEDB00"/>
          </a:solidFill>
          <a:ln w="12700">
            <a:solidFill>
              <a:srgbClr val="FEDB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196328" y="2542032"/>
            <a:ext cx="4114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11F2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From screen to Supabase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6720840" y="3136392"/>
            <a:ext cx="4736592" cy="1069848"/>
          </a:xfrm>
          <a:prstGeom prst="rect">
            <a:avLst/>
          </a:prstGeom>
          <a:solidFill>
            <a:srgbClr val="FFFFFF"/>
          </a:solidFill>
          <a:ln w="10160">
            <a:solidFill>
              <a:srgbClr val="D9DAD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720840" y="3136392"/>
            <a:ext cx="54864" cy="1069848"/>
          </a:xfrm>
          <a:prstGeom prst="rect">
            <a:avLst/>
          </a:prstGeom>
          <a:solidFill>
            <a:srgbClr val="FEDB00"/>
          </a:solidFill>
          <a:ln w="12700">
            <a:solidFill>
              <a:srgbClr val="FEDB0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986016" y="3310128"/>
            <a:ext cx="2706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11F2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Candidate response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10369296" y="3310128"/>
            <a:ext cx="832104" cy="256032"/>
          </a:xfrm>
          <a:prstGeom prst="rect">
            <a:avLst/>
          </a:prstGeom>
          <a:solidFill>
            <a:srgbClr val="F5F5F6"/>
          </a:solidFill>
          <a:ln w="12700">
            <a:solidFill>
              <a:srgbClr val="F5F5F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0424160" y="3364992"/>
            <a:ext cx="7498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11F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responses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6986016" y="3703320"/>
            <a:ext cx="415137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Name, email, university, major, and UTC check-in time.</a:t>
            </a:r>
            <a:endParaRPr lang="en-US" sz="1120" dirty="0"/>
          </a:p>
        </p:txBody>
      </p:sp>
      <p:sp>
        <p:nvSpPr>
          <p:cNvPr id="20" name="Shape 17"/>
          <p:cNvSpPr/>
          <p:nvPr/>
        </p:nvSpPr>
        <p:spPr>
          <a:xfrm>
            <a:off x="6720840" y="4434840"/>
            <a:ext cx="4736592" cy="1069848"/>
          </a:xfrm>
          <a:prstGeom prst="rect">
            <a:avLst/>
          </a:prstGeom>
          <a:solidFill>
            <a:srgbClr val="FFFFFF"/>
          </a:solidFill>
          <a:ln w="10160">
            <a:solidFill>
              <a:srgbClr val="D9DAD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720840" y="4434840"/>
            <a:ext cx="54864" cy="1069848"/>
          </a:xfrm>
          <a:prstGeom prst="rect">
            <a:avLst/>
          </a:prstGeom>
          <a:solidFill>
            <a:srgbClr val="FEDB00"/>
          </a:solidFill>
          <a:ln w="12700">
            <a:solidFill>
              <a:srgbClr val="FEDB0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986016" y="4608576"/>
            <a:ext cx="2706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11F2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Resume file</a:t>
            </a:r>
            <a:endParaRPr lang="en-US" sz="1700" dirty="0"/>
          </a:p>
        </p:txBody>
      </p:sp>
      <p:sp>
        <p:nvSpPr>
          <p:cNvPr id="23" name="Shape 20"/>
          <p:cNvSpPr/>
          <p:nvPr/>
        </p:nvSpPr>
        <p:spPr>
          <a:xfrm>
            <a:off x="10369296" y="4608576"/>
            <a:ext cx="832104" cy="256032"/>
          </a:xfrm>
          <a:prstGeom prst="rect">
            <a:avLst/>
          </a:prstGeom>
          <a:solidFill>
            <a:srgbClr val="F5F5F6"/>
          </a:solidFill>
          <a:ln w="12700">
            <a:solidFill>
              <a:srgbClr val="F5F5F6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0424160" y="4663440"/>
            <a:ext cx="7498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11F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resumes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6986016" y="5001768"/>
            <a:ext cx="415137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PDF or DOCX, up to 8 MB, saved with candidate metadata.</a:t>
            </a:r>
            <a:endParaRPr lang="en-US" sz="1120" dirty="0"/>
          </a:p>
        </p:txBody>
      </p:sp>
      <p:sp>
        <p:nvSpPr>
          <p:cNvPr id="26" name="Shape 23"/>
          <p:cNvSpPr/>
          <p:nvPr/>
        </p:nvSpPr>
        <p:spPr>
          <a:xfrm>
            <a:off x="6720840" y="5815584"/>
            <a:ext cx="1444752" cy="320040"/>
          </a:xfrm>
          <a:prstGeom prst="rect">
            <a:avLst/>
          </a:prstGeom>
          <a:solidFill>
            <a:srgbClr val="F5F5F6"/>
          </a:solidFill>
          <a:ln w="6350">
            <a:solidFill>
              <a:srgbClr val="D9DAD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793992" y="5907024"/>
            <a:ext cx="12984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211F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Required fields</a:t>
            </a:r>
            <a:endParaRPr lang="en-US" sz="880" dirty="0"/>
          </a:p>
        </p:txBody>
      </p:sp>
      <p:sp>
        <p:nvSpPr>
          <p:cNvPr id="28" name="Shape 25"/>
          <p:cNvSpPr/>
          <p:nvPr/>
        </p:nvSpPr>
        <p:spPr>
          <a:xfrm>
            <a:off x="8284464" y="5815584"/>
            <a:ext cx="1472184" cy="320040"/>
          </a:xfrm>
          <a:prstGeom prst="rect">
            <a:avLst/>
          </a:prstGeom>
          <a:solidFill>
            <a:srgbClr val="F5F5F6"/>
          </a:solidFill>
          <a:ln w="6350">
            <a:solidFill>
              <a:srgbClr val="D9DADC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357616" y="5907024"/>
            <a:ext cx="1325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211F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Server validation</a:t>
            </a:r>
            <a:endParaRPr lang="en-US" sz="880" dirty="0"/>
          </a:p>
        </p:txBody>
      </p:sp>
      <p:sp>
        <p:nvSpPr>
          <p:cNvPr id="30" name="Shape 27"/>
          <p:cNvSpPr/>
          <p:nvPr/>
        </p:nvSpPr>
        <p:spPr>
          <a:xfrm>
            <a:off x="9893808" y="5815584"/>
            <a:ext cx="1563624" cy="320040"/>
          </a:xfrm>
          <a:prstGeom prst="rect">
            <a:avLst/>
          </a:prstGeom>
          <a:solidFill>
            <a:srgbClr val="F5F5F6"/>
          </a:solidFill>
          <a:ln w="6350">
            <a:solidFill>
              <a:srgbClr val="D9DAD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966960" y="5907024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211F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Confirmation screen</a:t>
            </a:r>
            <a:endParaRPr lang="en-US" sz="8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11F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FEDB00"/>
          </a:solidFill>
          <a:ln w="12700">
            <a:solidFill>
              <a:srgbClr val="FEDB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411480"/>
            <a:ext cx="932688" cy="283464"/>
          </a:xfrm>
          <a:prstGeom prst="rect">
            <a:avLst/>
          </a:prstGeom>
          <a:solidFill>
            <a:srgbClr val="FEDB00"/>
          </a:solidFill>
          <a:ln w="12700">
            <a:solidFill>
              <a:srgbClr val="FEDB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94944" y="438912"/>
            <a:ext cx="8412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211F2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J.B. HUNT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700784" y="438912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TalentIQ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799064" y="448056"/>
            <a:ext cx="722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AAAAA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 / 08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58368" y="1106424"/>
            <a:ext cx="182880" cy="50292"/>
          </a:xfrm>
          <a:prstGeom prst="rect">
            <a:avLst/>
          </a:prstGeom>
          <a:solidFill>
            <a:srgbClr val="FEDB00"/>
          </a:solidFill>
          <a:ln w="12700">
            <a:solidFill>
              <a:srgbClr val="FEDB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99669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FEDB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BACKEND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58368" y="1353312"/>
            <a:ext cx="9784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clean path from submit</a:t>
            </a:r>
            <a:endParaRPr lang="en-US" sz="4100" dirty="0"/>
          </a:p>
          <a:p>
            <a:pPr algn="l" indent="0" marL="0">
              <a:buNone/>
            </a:pPr>
            <a:r>
              <a:rPr lang="en-US" sz="4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 saved record.</a:t>
            </a:r>
            <a:endParaRPr lang="en-US" sz="4100" dirty="0"/>
          </a:p>
        </p:txBody>
      </p:sp>
      <p:sp>
        <p:nvSpPr>
          <p:cNvPr id="10" name="Text 8"/>
          <p:cNvSpPr/>
          <p:nvPr/>
        </p:nvSpPr>
        <p:spPr>
          <a:xfrm>
            <a:off x="658368" y="2606040"/>
            <a:ext cx="9326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D2D2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server action checks the submission before any candidate record is committed.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58368" y="3401568"/>
            <a:ext cx="2642616" cy="2331720"/>
          </a:xfrm>
          <a:prstGeom prst="rect">
            <a:avLst/>
          </a:prstGeom>
          <a:solidFill>
            <a:srgbClr val="2D2B2C"/>
          </a:solidFill>
          <a:ln w="12700">
            <a:solidFill>
              <a:srgbClr val="2D2B2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" y="3401568"/>
            <a:ext cx="2642616" cy="64008"/>
          </a:xfrm>
          <a:prstGeom prst="rect">
            <a:avLst/>
          </a:prstGeom>
          <a:solidFill>
            <a:srgbClr val="FEDB00"/>
          </a:solidFill>
          <a:ln w="12700">
            <a:solidFill>
              <a:srgbClr val="FEDB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" y="36301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EDB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50392" y="4123944"/>
            <a:ext cx="221284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Validate</a:t>
            </a:r>
            <a:endParaRPr lang="en-US" sz="20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details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50392" y="4937760"/>
            <a:ext cx="22311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D2D2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Required fields, email shape, file type, signature, and 8 MB limit.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474720" y="3401568"/>
            <a:ext cx="2642616" cy="2331720"/>
          </a:xfrm>
          <a:prstGeom prst="rect">
            <a:avLst/>
          </a:prstGeom>
          <a:solidFill>
            <a:srgbClr val="2D2B2C"/>
          </a:solidFill>
          <a:ln w="12700">
            <a:solidFill>
              <a:srgbClr val="2D2B2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74720" y="3401568"/>
            <a:ext cx="2642616" cy="64008"/>
          </a:xfrm>
          <a:prstGeom prst="rect">
            <a:avLst/>
          </a:prstGeom>
          <a:solidFill>
            <a:srgbClr val="FEDB00"/>
          </a:solidFill>
          <a:ln w="12700">
            <a:solidFill>
              <a:srgbClr val="FEDB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66744" y="36301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EDB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666744" y="4123944"/>
            <a:ext cx="221284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Stamp</a:t>
            </a:r>
            <a:endParaRPr lang="en-US" sz="20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visit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666744" y="4937760"/>
            <a:ext cx="22311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D2D2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Capture the check-in instant in UTC for a consistent event record.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291072" y="3401568"/>
            <a:ext cx="2642616" cy="2331720"/>
          </a:xfrm>
          <a:prstGeom prst="rect">
            <a:avLst/>
          </a:prstGeom>
          <a:solidFill>
            <a:srgbClr val="2D2B2C"/>
          </a:solidFill>
          <a:ln w="12700">
            <a:solidFill>
              <a:srgbClr val="2D2B2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91072" y="3401568"/>
            <a:ext cx="2642616" cy="64008"/>
          </a:xfrm>
          <a:prstGeom prst="rect">
            <a:avLst/>
          </a:prstGeom>
          <a:solidFill>
            <a:srgbClr val="FEDB00"/>
          </a:solidFill>
          <a:ln w="12700">
            <a:solidFill>
              <a:srgbClr val="FEDB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83096" y="36301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EDB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83096" y="4123944"/>
            <a:ext cx="221284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Store</a:t>
            </a:r>
            <a:endParaRPr lang="en-US" sz="20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resume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483096" y="4937760"/>
            <a:ext cx="22311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D2D2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Upload to the Supabase resumes bucket with candidate metadata.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9107424" y="3401568"/>
            <a:ext cx="2642616" cy="2331720"/>
          </a:xfrm>
          <a:prstGeom prst="rect">
            <a:avLst/>
          </a:prstGeom>
          <a:solidFill>
            <a:srgbClr val="2D2B2C"/>
          </a:solidFill>
          <a:ln w="12700">
            <a:solidFill>
              <a:srgbClr val="2D2B2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107424" y="3401568"/>
            <a:ext cx="2642616" cy="64008"/>
          </a:xfrm>
          <a:prstGeom prst="rect">
            <a:avLst/>
          </a:prstGeom>
          <a:solidFill>
            <a:srgbClr val="FEDB00"/>
          </a:solidFill>
          <a:ln w="12700">
            <a:solidFill>
              <a:srgbClr val="FEDB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299448" y="36301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EDB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299448" y="4123944"/>
            <a:ext cx="221284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Write</a:t>
            </a:r>
            <a:endParaRPr lang="en-US" sz="20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response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9299448" y="4937760"/>
            <a:ext cx="22311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D2D2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Insert the candidate row, then show check-in confirmation.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58368" y="6025896"/>
            <a:ext cx="10881360" cy="448056"/>
          </a:xfrm>
          <a:prstGeom prst="rect">
            <a:avLst/>
          </a:prstGeom>
          <a:solidFill>
            <a:srgbClr val="211F20"/>
          </a:solidFill>
          <a:ln w="10160">
            <a:solidFill>
              <a:srgbClr val="66666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32104" y="6126480"/>
            <a:ext cx="1362456" cy="256032"/>
          </a:xfrm>
          <a:prstGeom prst="rect">
            <a:avLst/>
          </a:prstGeom>
          <a:solidFill>
            <a:srgbClr val="FEDB00"/>
          </a:solidFill>
          <a:ln w="12700">
            <a:solidFill>
              <a:srgbClr val="FEDB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05256" y="6199632"/>
            <a:ext cx="12252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211F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FAILURE HANDLING</a:t>
            </a:r>
            <a:endParaRPr lang="en-US" sz="840" dirty="0"/>
          </a:p>
        </p:txBody>
      </p:sp>
      <p:sp>
        <p:nvSpPr>
          <p:cNvPr id="34" name="Text 32"/>
          <p:cNvSpPr/>
          <p:nvPr/>
        </p:nvSpPr>
        <p:spPr>
          <a:xfrm>
            <a:off x="2368296" y="6163056"/>
            <a:ext cx="85587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D2D2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the database insert fails, the uploaded resume is removed so records stay in sync.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FEDB00"/>
          </a:solidFill>
          <a:ln w="12700">
            <a:solidFill>
              <a:srgbClr val="FEDB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411480"/>
            <a:ext cx="932688" cy="283464"/>
          </a:xfrm>
          <a:prstGeom prst="rect">
            <a:avLst/>
          </a:prstGeom>
          <a:solidFill>
            <a:srgbClr val="FEDB00"/>
          </a:solidFill>
          <a:ln w="12700">
            <a:solidFill>
              <a:srgbClr val="FEDB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94944" y="438912"/>
            <a:ext cx="8412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211F2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J.B. HUNT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700784" y="438912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11F2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TalentIQ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799064" y="448056"/>
            <a:ext cx="722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6868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 / 08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58368" y="1033272"/>
            <a:ext cx="182880" cy="50292"/>
          </a:xfrm>
          <a:prstGeom prst="rect">
            <a:avLst/>
          </a:prstGeom>
          <a:solidFill>
            <a:srgbClr val="FEDB00"/>
          </a:solidFill>
          <a:ln w="12700">
            <a:solidFill>
              <a:srgbClr val="FEDB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92354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211F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RECRUITER WORKSPACE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58368" y="1261872"/>
            <a:ext cx="8595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700" b="1" dirty="0">
                <a:solidFill>
                  <a:srgbClr val="211F2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Every conversation has a trail.</a:t>
            </a:r>
            <a:endParaRPr lang="en-US" sz="3700" dirty="0"/>
          </a:p>
        </p:txBody>
      </p:sp>
      <p:sp>
        <p:nvSpPr>
          <p:cNvPr id="10" name="Text 8"/>
          <p:cNvSpPr/>
          <p:nvPr/>
        </p:nvSpPr>
        <p:spPr>
          <a:xfrm>
            <a:off x="658368" y="1874520"/>
            <a:ext cx="96926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dashboard concept that keeps candidate profiles, discussion details, and follow-up actions together.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829800" y="1261872"/>
            <a:ext cx="1673352" cy="292608"/>
          </a:xfrm>
          <a:prstGeom prst="rect">
            <a:avLst/>
          </a:prstGeom>
          <a:solidFill>
            <a:srgbClr val="FEDB00"/>
          </a:solidFill>
          <a:ln w="12700">
            <a:solidFill>
              <a:srgbClr val="FEDB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921240" y="1353312"/>
            <a:ext cx="14904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b="1" spc="70" kern="0" dirty="0">
                <a:solidFill>
                  <a:srgbClr val="211F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 PHASE CONCEPT</a:t>
            </a:r>
            <a:endParaRPr lang="en-US" sz="840" dirty="0"/>
          </a:p>
        </p:txBody>
      </p:sp>
      <p:sp>
        <p:nvSpPr>
          <p:cNvPr id="13" name="Shape 11"/>
          <p:cNvSpPr/>
          <p:nvPr/>
        </p:nvSpPr>
        <p:spPr>
          <a:xfrm>
            <a:off x="658368" y="2432304"/>
            <a:ext cx="10863072" cy="3986784"/>
          </a:xfrm>
          <a:prstGeom prst="rect">
            <a:avLst/>
          </a:prstGeom>
          <a:solidFill>
            <a:srgbClr val="FFFFFF"/>
          </a:solidFill>
          <a:ln w="11430">
            <a:solidFill>
              <a:srgbClr val="CFD0D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8368" y="2432304"/>
            <a:ext cx="10863072" cy="402336"/>
          </a:xfrm>
          <a:prstGeom prst="rect">
            <a:avLst/>
          </a:prstGeom>
          <a:solidFill>
            <a:srgbClr val="211F20"/>
          </a:solidFill>
          <a:ln w="12700">
            <a:solidFill>
              <a:srgbClr val="211F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9536" y="2532888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TalentIQ / Recruiter dashboard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213848" y="2551176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FEDB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CONCEPT VIEW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94176" y="2834640"/>
            <a:ext cx="0" cy="3584448"/>
          </a:xfrm>
          <a:prstGeom prst="line">
            <a:avLst/>
          </a:prstGeom>
          <a:noFill/>
          <a:ln w="12700">
            <a:solidFill>
              <a:srgbClr val="D9DAD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26680" y="2834640"/>
            <a:ext cx="0" cy="3584448"/>
          </a:xfrm>
          <a:prstGeom prst="line">
            <a:avLst/>
          </a:prstGeom>
          <a:noFill/>
          <a:ln w="12700">
            <a:solidFill>
              <a:srgbClr val="D9DAD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9536" y="30175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11F2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Candidates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59536" y="3401568"/>
            <a:ext cx="2596896" cy="347472"/>
          </a:xfrm>
          <a:prstGeom prst="rect">
            <a:avLst/>
          </a:prstGeom>
          <a:solidFill>
            <a:srgbClr val="F5F5F6"/>
          </a:solidFill>
          <a:ln w="8890">
            <a:solidFill>
              <a:srgbClr val="AAAAA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0120" y="3493008"/>
            <a:ext cx="23957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86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Search candidates or notes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59536" y="3858768"/>
            <a:ext cx="2596896" cy="502920"/>
          </a:xfrm>
          <a:prstGeom prst="rect">
            <a:avLst/>
          </a:prstGeom>
          <a:solidFill>
            <a:srgbClr val="FFFCE5"/>
          </a:solidFill>
          <a:ln w="7620">
            <a:solidFill>
              <a:srgbClr val="D9DAD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59536" y="3858768"/>
            <a:ext cx="45720" cy="502920"/>
          </a:xfrm>
          <a:prstGeom prst="rect">
            <a:avLst/>
          </a:prstGeom>
          <a:solidFill>
            <a:srgbClr val="FEDB00"/>
          </a:solidFill>
          <a:ln w="12700">
            <a:solidFill>
              <a:srgbClr val="FEDB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96696" y="395020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11F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Alex Morgan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996696" y="4169664"/>
            <a:ext cx="2286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86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UNT · Computer Science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859536" y="4434840"/>
            <a:ext cx="2596896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D9DA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96696" y="452628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11F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Riley Santos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996696" y="4745736"/>
            <a:ext cx="2286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86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Supply chain · Analytics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859536" y="5010912"/>
            <a:ext cx="2596896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D9DAD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96696" y="510235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11F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Jordan Lee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996696" y="5321808"/>
            <a:ext cx="2286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86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Operations · Business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904488" y="301752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11F2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Candidate profile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3904488" y="3465576"/>
            <a:ext cx="3337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11F2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Alex Morgan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3904488" y="3831336"/>
            <a:ext cx="34472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86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Checked in 10:38 AM · Resume on file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904488" y="4178808"/>
            <a:ext cx="704088" cy="301752"/>
          </a:xfrm>
          <a:prstGeom prst="rect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977640" y="4270248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211F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</a:t>
            </a:r>
            <a:endParaRPr lang="en-US" sz="870" dirty="0"/>
          </a:p>
        </p:txBody>
      </p:sp>
      <p:sp>
        <p:nvSpPr>
          <p:cNvPr id="37" name="Shape 35"/>
          <p:cNvSpPr/>
          <p:nvPr/>
        </p:nvSpPr>
        <p:spPr>
          <a:xfrm>
            <a:off x="4700016" y="4178808"/>
            <a:ext cx="1097280" cy="301752"/>
          </a:xfrm>
          <a:prstGeom prst="rect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73168" y="4270248"/>
            <a:ext cx="9509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211F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Forecasting</a:t>
            </a:r>
            <a:endParaRPr lang="en-US" sz="870" dirty="0"/>
          </a:p>
        </p:txBody>
      </p:sp>
      <p:sp>
        <p:nvSpPr>
          <p:cNvPr id="39" name="Shape 37"/>
          <p:cNvSpPr/>
          <p:nvPr/>
        </p:nvSpPr>
        <p:spPr>
          <a:xfrm>
            <a:off x="5879592" y="4178808"/>
            <a:ext cx="932688" cy="301752"/>
          </a:xfrm>
          <a:prstGeom prst="rect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952744" y="4270248"/>
            <a:ext cx="7863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211F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Inventory</a:t>
            </a:r>
            <a:endParaRPr lang="en-US" sz="870" dirty="0"/>
          </a:p>
        </p:txBody>
      </p:sp>
      <p:sp>
        <p:nvSpPr>
          <p:cNvPr id="41" name="Shape 39"/>
          <p:cNvSpPr/>
          <p:nvPr/>
        </p:nvSpPr>
        <p:spPr>
          <a:xfrm>
            <a:off x="3904488" y="4736592"/>
            <a:ext cx="3493008" cy="0"/>
          </a:xfrm>
          <a:prstGeom prst="line">
            <a:avLst/>
          </a:prstGeom>
          <a:noFill/>
          <a:ln w="12700">
            <a:solidFill>
              <a:srgbClr val="D9DAD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904488" y="4937760"/>
            <a:ext cx="3465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11F2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Conversation summary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3904488" y="5285232"/>
            <a:ext cx="34381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Discussed a Python inventory forecasting project, interest in fleet analytics, and internship availability.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7955280" y="301752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11F2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Conversation log</a:t>
            </a:r>
            <a:endParaRPr lang="en-US" sz="1500" dirty="0"/>
          </a:p>
        </p:txBody>
      </p:sp>
      <p:sp>
        <p:nvSpPr>
          <p:cNvPr id="45" name="Shape 43"/>
          <p:cNvSpPr/>
          <p:nvPr/>
        </p:nvSpPr>
        <p:spPr>
          <a:xfrm>
            <a:off x="8147304" y="3447288"/>
            <a:ext cx="0" cy="2560320"/>
          </a:xfrm>
          <a:prstGeom prst="line">
            <a:avLst/>
          </a:prstGeom>
          <a:noFill/>
          <a:ln w="25400">
            <a:solidFill>
              <a:srgbClr val="FEDB0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074152" y="3474720"/>
            <a:ext cx="146304" cy="146304"/>
          </a:xfrm>
          <a:prstGeom prst="ellipse">
            <a:avLst/>
          </a:prstGeom>
          <a:solidFill>
            <a:srgbClr val="FEDB00"/>
          </a:solidFill>
          <a:ln w="12700">
            <a:solidFill>
              <a:srgbClr val="FEDB0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348472" y="3447288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686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10:42 AM</a:t>
            </a:r>
            <a:endParaRPr lang="en-US" sz="870" dirty="0"/>
          </a:p>
        </p:txBody>
      </p:sp>
      <p:sp>
        <p:nvSpPr>
          <p:cNvPr id="48" name="Text 46"/>
          <p:cNvSpPr/>
          <p:nvPr/>
        </p:nvSpPr>
        <p:spPr>
          <a:xfrm>
            <a:off x="8348472" y="3657600"/>
            <a:ext cx="2852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11F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 at the booth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8348472" y="3886200"/>
            <a:ext cx="281635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Introduced operations and analytics opportunities.</a:t>
            </a:r>
            <a:endParaRPr lang="en-US" sz="920" dirty="0"/>
          </a:p>
        </p:txBody>
      </p:sp>
      <p:sp>
        <p:nvSpPr>
          <p:cNvPr id="50" name="Shape 48"/>
          <p:cNvSpPr/>
          <p:nvPr/>
        </p:nvSpPr>
        <p:spPr>
          <a:xfrm>
            <a:off x="8074152" y="4306824"/>
            <a:ext cx="146304" cy="146304"/>
          </a:xfrm>
          <a:prstGeom prst="ellipse">
            <a:avLst/>
          </a:prstGeom>
          <a:solidFill>
            <a:srgbClr val="FEDB00"/>
          </a:solidFill>
          <a:ln w="12700">
            <a:solidFill>
              <a:srgbClr val="FEDB0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348472" y="427939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686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10:46 AM</a:t>
            </a:r>
            <a:endParaRPr lang="en-US" sz="870" dirty="0"/>
          </a:p>
        </p:txBody>
      </p:sp>
      <p:sp>
        <p:nvSpPr>
          <p:cNvPr id="52" name="Text 50"/>
          <p:cNvSpPr/>
          <p:nvPr/>
        </p:nvSpPr>
        <p:spPr>
          <a:xfrm>
            <a:off x="8348472" y="4489704"/>
            <a:ext cx="2852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11F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Discussed project work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8348472" y="4718304"/>
            <a:ext cx="281635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Candidate explained forecasting model and data tools.</a:t>
            </a:r>
            <a:endParaRPr lang="en-US" sz="920" dirty="0"/>
          </a:p>
        </p:txBody>
      </p:sp>
      <p:sp>
        <p:nvSpPr>
          <p:cNvPr id="54" name="Shape 52"/>
          <p:cNvSpPr/>
          <p:nvPr/>
        </p:nvSpPr>
        <p:spPr>
          <a:xfrm>
            <a:off x="8074152" y="5138928"/>
            <a:ext cx="146304" cy="146304"/>
          </a:xfrm>
          <a:prstGeom prst="ellipse">
            <a:avLst/>
          </a:prstGeom>
          <a:solidFill>
            <a:srgbClr val="FEDB00"/>
          </a:solidFill>
          <a:ln w="12700">
            <a:solidFill>
              <a:srgbClr val="FEDB0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348472" y="5111496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686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10:49 AM</a:t>
            </a:r>
            <a:endParaRPr lang="en-US" sz="870" dirty="0"/>
          </a:p>
        </p:txBody>
      </p:sp>
      <p:sp>
        <p:nvSpPr>
          <p:cNvPr id="56" name="Text 54"/>
          <p:cNvSpPr/>
          <p:nvPr/>
        </p:nvSpPr>
        <p:spPr>
          <a:xfrm>
            <a:off x="8348472" y="5321808"/>
            <a:ext cx="2852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11F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Follow-up marked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8348472" y="5550408"/>
            <a:ext cx="281635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Recruiter saved profile for an analytics interview.</a:t>
            </a:r>
            <a:endParaRPr lang="en-US" sz="9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11F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FEDB00"/>
          </a:solidFill>
          <a:ln w="12700">
            <a:solidFill>
              <a:srgbClr val="FEDB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411480"/>
            <a:ext cx="932688" cy="283464"/>
          </a:xfrm>
          <a:prstGeom prst="rect">
            <a:avLst/>
          </a:prstGeom>
          <a:solidFill>
            <a:srgbClr val="FEDB00"/>
          </a:solidFill>
          <a:ln w="12700">
            <a:solidFill>
              <a:srgbClr val="FEDB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94944" y="438912"/>
            <a:ext cx="8412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211F2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J.B. HUNT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700784" y="438912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TalentIQ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799064" y="448056"/>
            <a:ext cx="722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AAAAA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 / 08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58368" y="1316736"/>
            <a:ext cx="1682496" cy="301752"/>
          </a:xfrm>
          <a:prstGeom prst="rect">
            <a:avLst/>
          </a:prstGeom>
          <a:solidFill>
            <a:srgbClr val="FEDB00"/>
          </a:solidFill>
          <a:ln w="12700">
            <a:solidFill>
              <a:srgbClr val="FEDB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408176"/>
            <a:ext cx="147218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80" kern="0" dirty="0">
                <a:solidFill>
                  <a:srgbClr val="211F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 PHASE CONCEPT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58368" y="1865376"/>
            <a:ext cx="46634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Search by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658368" y="2441448"/>
            <a:ext cx="5394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EDB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was said.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658368" y="3273552"/>
            <a:ext cx="488289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D2D2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With consent, recruiters can capture or dictate conversation notes. Transcription and topic filters make those discussions searchable later.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8368" y="4462272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Voice note  →  Transcript  →  Topic filter  →  Candidate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45352" y="1335024"/>
            <a:ext cx="5257800" cy="5065776"/>
          </a:xfrm>
          <a:prstGeom prst="rect">
            <a:avLst/>
          </a:prstGeom>
          <a:solidFill>
            <a:srgbClr val="292728"/>
          </a:solidFill>
          <a:ln w="10160">
            <a:solidFill>
              <a:srgbClr val="69676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74536" y="1700784"/>
            <a:ext cx="4416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40" kern="0" dirty="0">
                <a:solidFill>
                  <a:srgbClr val="D2D2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VOICE FILTERING SYSTEM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434072" y="2487168"/>
            <a:ext cx="54864" cy="173736"/>
          </a:xfrm>
          <a:prstGeom prst="rect">
            <a:avLst/>
          </a:prstGeom>
          <a:solidFill>
            <a:srgbClr val="FEDB00"/>
          </a:solidFill>
          <a:ln w="12700">
            <a:solidFill>
              <a:srgbClr val="FEDB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35240" y="2404872"/>
            <a:ext cx="54864" cy="338328"/>
          </a:xfrm>
          <a:prstGeom prst="rect">
            <a:avLst/>
          </a:prstGeom>
          <a:solidFill>
            <a:srgbClr val="FEDB00"/>
          </a:solidFill>
          <a:ln w="12700">
            <a:solidFill>
              <a:srgbClr val="FEDB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836408" y="2308860"/>
            <a:ext cx="54864" cy="530352"/>
          </a:xfrm>
          <a:prstGeom prst="rect">
            <a:avLst/>
          </a:prstGeom>
          <a:solidFill>
            <a:srgbClr val="FEDB00"/>
          </a:solidFill>
          <a:ln w="12700">
            <a:solidFill>
              <a:srgbClr val="FEDB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37576" y="2427732"/>
            <a:ext cx="54864" cy="292608"/>
          </a:xfrm>
          <a:prstGeom prst="rect">
            <a:avLst/>
          </a:prstGeom>
          <a:solidFill>
            <a:srgbClr val="FEDB00"/>
          </a:solidFill>
          <a:ln w="12700">
            <a:solidFill>
              <a:srgbClr val="FEDB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38744" y="2258568"/>
            <a:ext cx="54864" cy="630936"/>
          </a:xfrm>
          <a:prstGeom prst="rect">
            <a:avLst/>
          </a:prstGeom>
          <a:solidFill>
            <a:srgbClr val="FEDB00"/>
          </a:solidFill>
          <a:ln w="12700">
            <a:solidFill>
              <a:srgbClr val="FEDB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439912" y="2377440"/>
            <a:ext cx="54864" cy="393192"/>
          </a:xfrm>
          <a:prstGeom prst="rect">
            <a:avLst/>
          </a:prstGeom>
          <a:solidFill>
            <a:srgbClr val="FEDB00"/>
          </a:solidFill>
          <a:ln w="12700">
            <a:solidFill>
              <a:srgbClr val="FEDB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41080" y="2459736"/>
            <a:ext cx="54864" cy="228600"/>
          </a:xfrm>
          <a:prstGeom prst="rect">
            <a:avLst/>
          </a:prstGeom>
          <a:solidFill>
            <a:srgbClr val="FEDB00"/>
          </a:solidFill>
          <a:ln w="12700">
            <a:solidFill>
              <a:srgbClr val="FEDB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842248" y="2286000"/>
            <a:ext cx="54864" cy="576072"/>
          </a:xfrm>
          <a:prstGeom prst="rect">
            <a:avLst/>
          </a:prstGeom>
          <a:solidFill>
            <a:srgbClr val="FEDB00"/>
          </a:solidFill>
          <a:ln w="12700">
            <a:solidFill>
              <a:srgbClr val="FEDB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043416" y="2400300"/>
            <a:ext cx="54864" cy="347472"/>
          </a:xfrm>
          <a:prstGeom prst="rect">
            <a:avLst/>
          </a:prstGeom>
          <a:solidFill>
            <a:srgbClr val="FEDB00"/>
          </a:solidFill>
          <a:ln w="12700">
            <a:solidFill>
              <a:srgbClr val="FEDB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244584" y="2482596"/>
            <a:ext cx="54864" cy="182880"/>
          </a:xfrm>
          <a:prstGeom prst="rect">
            <a:avLst/>
          </a:prstGeom>
          <a:solidFill>
            <a:srgbClr val="FEDB00"/>
          </a:solidFill>
          <a:ln w="12700">
            <a:solidFill>
              <a:srgbClr val="FEDB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445752" y="2354580"/>
            <a:ext cx="54864" cy="438912"/>
          </a:xfrm>
          <a:prstGeom prst="rect">
            <a:avLst/>
          </a:prstGeom>
          <a:solidFill>
            <a:srgbClr val="FEDB00"/>
          </a:solidFill>
          <a:ln w="12700">
            <a:solidFill>
              <a:srgbClr val="FEDB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646920" y="2446020"/>
            <a:ext cx="54864" cy="256032"/>
          </a:xfrm>
          <a:prstGeom prst="rect">
            <a:avLst/>
          </a:prstGeom>
          <a:solidFill>
            <a:srgbClr val="FEDB00"/>
          </a:solidFill>
          <a:ln w="12700">
            <a:solidFill>
              <a:srgbClr val="FEDB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848088" y="2505456"/>
            <a:ext cx="54864" cy="137160"/>
          </a:xfrm>
          <a:prstGeom prst="rect">
            <a:avLst/>
          </a:prstGeom>
          <a:solidFill>
            <a:srgbClr val="FEDB00"/>
          </a:solidFill>
          <a:ln w="12700">
            <a:solidFill>
              <a:srgbClr val="FEDB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574536" y="3218688"/>
            <a:ext cx="4599432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75704" y="3300984"/>
            <a:ext cx="18379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686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VOICE QUERY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775704" y="3511296"/>
            <a:ext cx="4142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11F2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“Who discussed fleet analytics?”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6574536" y="4279392"/>
            <a:ext cx="338328" cy="0"/>
          </a:xfrm>
          <a:prstGeom prst="line">
            <a:avLst/>
          </a:prstGeom>
          <a:noFill/>
          <a:ln w="25400">
            <a:solidFill>
              <a:srgbClr val="FEDB0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050024" y="4014216"/>
            <a:ext cx="4123944" cy="996696"/>
          </a:xfrm>
          <a:prstGeom prst="rect">
            <a:avLst/>
          </a:prstGeom>
          <a:solidFill>
            <a:srgbClr val="373536"/>
          </a:solidFill>
          <a:ln w="12700">
            <a:solidFill>
              <a:srgbClr val="37353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050024" y="4014216"/>
            <a:ext cx="45720" cy="996696"/>
          </a:xfrm>
          <a:prstGeom prst="rect">
            <a:avLst/>
          </a:prstGeom>
          <a:solidFill>
            <a:srgbClr val="FEDB00"/>
          </a:solidFill>
          <a:ln w="12700">
            <a:solidFill>
              <a:srgbClr val="FEDB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296912" y="4224528"/>
            <a:ext cx="34198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Alex Morgan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296912" y="4553712"/>
            <a:ext cx="35112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D2D2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Matched in conversation log: Python forecasting and interest in fleet analytics.</a:t>
            </a:r>
            <a:endParaRPr lang="en-US" sz="970" dirty="0"/>
          </a:p>
        </p:txBody>
      </p:sp>
      <p:sp>
        <p:nvSpPr>
          <p:cNvPr id="36" name="Shape 34"/>
          <p:cNvSpPr/>
          <p:nvPr/>
        </p:nvSpPr>
        <p:spPr>
          <a:xfrm>
            <a:off x="6574536" y="5715000"/>
            <a:ext cx="4599432" cy="0"/>
          </a:xfrm>
          <a:prstGeom prst="line">
            <a:avLst/>
          </a:prstGeom>
          <a:noFill/>
          <a:ln w="12700">
            <a:solidFill>
              <a:srgbClr val="65636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74536" y="589788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D2D2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Recruiters review the transcript and the original candidate record before follow-up.</a:t>
            </a:r>
            <a:endParaRPr lang="en-US" sz="104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11F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FEDB00"/>
          </a:solidFill>
          <a:ln w="12700">
            <a:solidFill>
              <a:srgbClr val="FEDB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926080" y="2331720"/>
            <a:ext cx="6355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0" b="1" dirty="0">
                <a:solidFill>
                  <a:srgbClr val="FEDB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Demo</a:t>
            </a:r>
            <a:endParaRPr lang="en-US" sz="9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FEDB00"/>
          </a:solidFill>
          <a:ln w="12700">
            <a:solidFill>
              <a:srgbClr val="FEDB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0" y="2450592"/>
            <a:ext cx="7635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0" b="1" dirty="0">
                <a:solidFill>
                  <a:srgbClr val="211F2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Thank you.</a:t>
            </a:r>
            <a:endParaRPr lang="en-US" sz="7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ontserra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TalentIQ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TalentIQ | J.B. Hunt career fair presentation</dc:title>
  <dc:subject>Career fair check-in presentation</dc:subject>
  <dc:creator>TalentIQ</dc:creator>
  <cp:lastModifiedBy>TalentIQ</cp:lastModifiedBy>
  <cp:revision>1</cp:revision>
  <dcterms:created xsi:type="dcterms:W3CDTF">2026-10-05T03:42:49Z</dcterms:created>
  <dcterms:modified xsi:type="dcterms:W3CDTF">2026-10-05T03:42:49Z</dcterms:modified>
</cp:coreProperties>
</file>